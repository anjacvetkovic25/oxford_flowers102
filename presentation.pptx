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303" r:id="rId5"/>
    <p:sldId id="301" r:id="rId6"/>
    <p:sldId id="304" r:id="rId7"/>
    <p:sldId id="314" r:id="rId8"/>
    <p:sldId id="315" r:id="rId9"/>
    <p:sldId id="316" r:id="rId10"/>
    <p:sldId id="317" r:id="rId11"/>
    <p:sldId id="305" r:id="rId12"/>
    <p:sldId id="306" r:id="rId13"/>
    <p:sldId id="318" r:id="rId14"/>
    <p:sldId id="319" r:id="rId15"/>
    <p:sldId id="320" r:id="rId16"/>
    <p:sldId id="321" r:id="rId17"/>
    <p:sldId id="322" r:id="rId18"/>
    <p:sldId id="308" r:id="rId19"/>
    <p:sldId id="326" r:id="rId20"/>
    <p:sldId id="327" r:id="rId21"/>
    <p:sldId id="307" r:id="rId22"/>
    <p:sldId id="323" r:id="rId23"/>
    <p:sldId id="324" r:id="rId24"/>
    <p:sldId id="325" r:id="rId25"/>
    <p:sldId id="31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82"/>
  </p:normalViewPr>
  <p:slideViewPr>
    <p:cSldViewPr snapToGrid="0">
      <p:cViewPr>
        <p:scale>
          <a:sx n="80" d="100"/>
          <a:sy n="80" d="100"/>
        </p:scale>
        <p:origin x="370" y="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712B4-1AE0-734B-BD0B-ED5EB8FC3B80}" type="datetime1">
              <a:rPr lang="en-US" smtClean="0"/>
              <a:t>12-Sep-26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Add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09567-0710-7949-BFB0-34B4188750EB}" type="datetime1">
              <a:rPr lang="en-US" noProof="0" smtClean="0"/>
              <a:t>12-Sep-26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noProof="0" dirty="0"/>
              <a:t>Add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89336" cy="3383280"/>
          </a:xfrm>
        </p:spPr>
        <p:txBody>
          <a:bodyPr lIns="91440" tIns="45720" rIns="91440" bIns="45720" anchor="t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4718304"/>
            <a:ext cx="5367528" cy="1371600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BD2B87EC-C19D-D312-C5D1-68C7B3D3F34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577" r="47068" b="26177"/>
          <a:stretch/>
        </p:blipFill>
        <p:spPr>
          <a:xfrm rot="5400000" flipH="1" flipV="1">
            <a:off x="8037001" y="-183083"/>
            <a:ext cx="3971922" cy="43380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A27C1C0-4175-DDF3-7F04-05A1FF4F83E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t="1" r="26660" b="31913"/>
          <a:stretch/>
        </p:blipFill>
        <p:spPr>
          <a:xfrm flipH="1">
            <a:off x="-2" y="2786671"/>
            <a:ext cx="2626743" cy="407133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F59A96A-1EEC-D106-BC8B-FBC3D022D6C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49606"/>
          <a:stretch/>
        </p:blipFill>
        <p:spPr>
          <a:xfrm flipH="1">
            <a:off x="1634272" y="4519948"/>
            <a:ext cx="3527989" cy="233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8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</p:spTree>
    <p:extLst>
      <p:ext uri="{BB962C8B-B14F-4D97-AF65-F5344CB8AC3E}">
        <p14:creationId xmlns:p14="http://schemas.microsoft.com/office/powerpoint/2010/main" val="305501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2040" y="996696"/>
            <a:ext cx="6528816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C7080A-051C-2507-F252-F68346430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96950"/>
            <a:ext cx="3971925" cy="58578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19472" y="2130552"/>
            <a:ext cx="6510528" cy="3959352"/>
          </a:xfrm>
        </p:spPr>
        <p:txBody>
          <a:bodyPr anchor="b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/>
            </a:lvl1pPr>
          </a:lstStyle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127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1691640"/>
            <a:ext cx="7708392" cy="2916936"/>
          </a:xfrm>
        </p:spPr>
        <p:txBody>
          <a:bodyPr lIns="91440" tIns="45720" rIns="91440" bIns="45720"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5296" y="5001768"/>
            <a:ext cx="7251192" cy="1088136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BCB114-3994-3B78-91C3-3970219AB0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-15397" b="35439"/>
          <a:stretch/>
        </p:blipFill>
        <p:spPr>
          <a:xfrm rot="16200000">
            <a:off x="8573175" y="595473"/>
            <a:ext cx="3527989" cy="370966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954D399-E3CD-888F-FCF9-DA0F34C64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157" b="13214"/>
          <a:stretch/>
        </p:blipFill>
        <p:spPr>
          <a:xfrm>
            <a:off x="8329613" y="3429000"/>
            <a:ext cx="3862387" cy="3429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CC75E85-8A16-65D2-BB9D-7966D18A9C8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" r="47260" b="26651"/>
          <a:stretch/>
        </p:blipFill>
        <p:spPr>
          <a:xfrm rot="16200000" flipV="1">
            <a:off x="197728" y="-197735"/>
            <a:ext cx="3914776" cy="431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8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2130552"/>
            <a:ext cx="4910328" cy="395935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94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996696"/>
            <a:ext cx="5641848" cy="4855464"/>
          </a:xfrm>
        </p:spPr>
        <p:txBody>
          <a:bodyPr lIns="91440" tIns="45720" rIns="91440" bIns="4572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7" name="Picture Placeholder 926">
            <a:extLst>
              <a:ext uri="{FF2B5EF4-FFF2-40B4-BE49-F238E27FC236}">
                <a16:creationId xmlns:a16="http://schemas.microsoft.com/office/drawing/2014/main" id="{E0D9F5FD-31A3-F83E-0559-2C0434E004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0"/>
            <a:ext cx="3971925" cy="5857875"/>
          </a:xfrm>
          <a:custGeom>
            <a:avLst/>
            <a:gdLst>
              <a:gd name="connsiteX0" fmla="*/ 0 w 3971925"/>
              <a:gd name="connsiteY0" fmla="*/ 0 h 5857875"/>
              <a:gd name="connsiteX1" fmla="*/ 3971925 w 3971925"/>
              <a:gd name="connsiteY1" fmla="*/ 0 h 5857875"/>
              <a:gd name="connsiteX2" fmla="*/ 3971925 w 3971925"/>
              <a:gd name="connsiteY2" fmla="*/ 5857875 h 5857875"/>
              <a:gd name="connsiteX3" fmla="*/ 1972187 w 3971925"/>
              <a:gd name="connsiteY3" fmla="*/ 5857875 h 5857875"/>
              <a:gd name="connsiteX4" fmla="*/ 1978760 w 3971925"/>
              <a:gd name="connsiteY4" fmla="*/ 5848548 h 5857875"/>
              <a:gd name="connsiteX5" fmla="*/ 2015275 w 3971925"/>
              <a:gd name="connsiteY5" fmla="*/ 5713664 h 5857875"/>
              <a:gd name="connsiteX6" fmla="*/ 2015275 w 3971925"/>
              <a:gd name="connsiteY6" fmla="*/ 5713663 h 5857875"/>
              <a:gd name="connsiteX7" fmla="*/ 2010932 w 3971925"/>
              <a:gd name="connsiteY7" fmla="*/ 5713083 h 5857875"/>
              <a:gd name="connsiteX8" fmla="*/ 2010064 w 3971925"/>
              <a:gd name="connsiteY8" fmla="*/ 5713083 h 5857875"/>
              <a:gd name="connsiteX9" fmla="*/ 1871116 w 3971925"/>
              <a:gd name="connsiteY9" fmla="*/ 5759476 h 5857875"/>
              <a:gd name="connsiteX10" fmla="*/ 1753300 w 3971925"/>
              <a:gd name="connsiteY10" fmla="*/ 5793691 h 5857875"/>
              <a:gd name="connsiteX11" fmla="*/ 1717404 w 3971925"/>
              <a:gd name="connsiteY11" fmla="*/ 5835082 h 5857875"/>
              <a:gd name="connsiteX12" fmla="*/ 1704691 w 3971925"/>
              <a:gd name="connsiteY12" fmla="*/ 5857875 h 5857875"/>
              <a:gd name="connsiteX13" fmla="*/ 0 w 3971925"/>
              <a:gd name="connsiteY13" fmla="*/ 5857875 h 585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71925" h="5857875">
                <a:moveTo>
                  <a:pt x="0" y="0"/>
                </a:moveTo>
                <a:lnTo>
                  <a:pt x="3971925" y="0"/>
                </a:lnTo>
                <a:lnTo>
                  <a:pt x="3971925" y="5857875"/>
                </a:lnTo>
                <a:lnTo>
                  <a:pt x="1972187" y="5857875"/>
                </a:lnTo>
                <a:lnTo>
                  <a:pt x="1978760" y="5848548"/>
                </a:lnTo>
                <a:cubicBezTo>
                  <a:pt x="2003551" y="5807990"/>
                  <a:pt x="2018531" y="5763681"/>
                  <a:pt x="2015275" y="5713664"/>
                </a:cubicBezTo>
                <a:lnTo>
                  <a:pt x="2015275" y="5713663"/>
                </a:lnTo>
                <a:cubicBezTo>
                  <a:pt x="2015275" y="5711343"/>
                  <a:pt x="2011801" y="5711343"/>
                  <a:pt x="2010932" y="5713083"/>
                </a:cubicBezTo>
                <a:cubicBezTo>
                  <a:pt x="2010643" y="5713083"/>
                  <a:pt x="2010354" y="5713083"/>
                  <a:pt x="2010064" y="5713083"/>
                </a:cubicBezTo>
                <a:cubicBezTo>
                  <a:pt x="1966643" y="5741499"/>
                  <a:pt x="1921774" y="5751937"/>
                  <a:pt x="1871116" y="5759476"/>
                </a:cubicBezTo>
                <a:cubicBezTo>
                  <a:pt x="1832326" y="5765275"/>
                  <a:pt x="1786010" y="5769045"/>
                  <a:pt x="1753300" y="5793691"/>
                </a:cubicBezTo>
                <a:cubicBezTo>
                  <a:pt x="1738970" y="5804419"/>
                  <a:pt x="1727463" y="5819134"/>
                  <a:pt x="1717404" y="5835082"/>
                </a:cubicBezTo>
                <a:lnTo>
                  <a:pt x="1704691" y="5857875"/>
                </a:lnTo>
                <a:lnTo>
                  <a:pt x="0" y="585787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E730C61-B0A5-15E4-EBDC-4DAA74F0270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652" b="34005"/>
          <a:stretch/>
        </p:blipFill>
        <p:spPr>
          <a:xfrm rot="5400000" flipH="1" flipV="1">
            <a:off x="9278992" y="3944992"/>
            <a:ext cx="2764120" cy="3061895"/>
          </a:xfrm>
          <a:prstGeom prst="rect">
            <a:avLst/>
          </a:prstGeom>
        </p:spPr>
      </p:pic>
      <p:pic>
        <p:nvPicPr>
          <p:cNvPr id="876" name="Graphic 875">
            <a:extLst>
              <a:ext uri="{FF2B5EF4-FFF2-40B4-BE49-F238E27FC236}">
                <a16:creationId xmlns:a16="http://schemas.microsoft.com/office/drawing/2014/main" id="{1AD600CE-8F3B-12A6-46EE-EFDBB7A1BB9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3805" b="26651"/>
          <a:stretch/>
        </p:blipFill>
        <p:spPr>
          <a:xfrm rot="5400000">
            <a:off x="440621" y="2988379"/>
            <a:ext cx="3428999" cy="431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1153E704-93AB-7E5D-6EB0-56FA23E7BC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130552"/>
            <a:ext cx="5641848" cy="395935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70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88B6212-D12B-E47E-327B-D1DDE7D71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910328" cy="39593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519672" y="2130552"/>
            <a:ext cx="4910328" cy="39593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4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88B6212-D12B-E47E-327B-D1DDE7D713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2"/>
            <a:ext cx="4206240" cy="3959352"/>
          </a:xfrm>
        </p:spPr>
        <p:txBody>
          <a:bodyPr anchor="t"/>
          <a:lstStyle>
            <a:lvl1pPr marL="347472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513832" y="2176272"/>
            <a:ext cx="5907024" cy="39593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53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FAF073C-F11E-EB24-742E-8B7ED02C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68D94-20DF-9647-607F-3DEBED05EC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2176272"/>
            <a:ext cx="10652760" cy="39593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1874E-F900-D5BE-5274-49CBA7F9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9C676-DCFE-2801-253F-061508F611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14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901B-82D0-753E-153F-463C1DFF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8668512" cy="2432304"/>
          </a:xfrm>
        </p:spPr>
        <p:txBody>
          <a:bodyPr lIns="91440" tIns="45720" rIns="91440" bIns="45720" anchor="t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9FF1EC-CF79-CED7-3907-6CC3EC921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3429000"/>
            <a:ext cx="5340096" cy="2660904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291867A-07AF-138A-AC57-59D328A6095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22" r="19404" b="26232"/>
          <a:stretch/>
        </p:blipFill>
        <p:spPr>
          <a:xfrm rot="5400000" flipH="1" flipV="1">
            <a:off x="8651875" y="625473"/>
            <a:ext cx="4165601" cy="291465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F7C5AD9-C0FD-61EF-DDC7-8F470141994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3" t="-8495" r="43883" b="25558"/>
          <a:stretch/>
        </p:blipFill>
        <p:spPr>
          <a:xfrm>
            <a:off x="10201275" y="1898651"/>
            <a:ext cx="1990725" cy="495934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398A539-AF73-E115-3EDF-231BC59E68D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27" t="1169" r="27094" b="32980"/>
          <a:stretch/>
        </p:blipFill>
        <p:spPr>
          <a:xfrm rot="10800000" flipV="1">
            <a:off x="-1" y="2988379"/>
            <a:ext cx="5335584" cy="386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69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096" y="2450591"/>
            <a:ext cx="10652761" cy="3487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00800"/>
            <a:ext cx="457200" cy="4572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lang="en-US" sz="1200" b="1" i="0" smtClean="0">
                <a:solidFill>
                  <a:schemeClr val="accent3"/>
                </a:solidFill>
                <a:latin typeface="+mn-lt"/>
              </a:defRPr>
            </a:lvl1pPr>
          </a:lstStyle>
          <a:p>
            <a:fld id="{19B51A1E-902D-48AF-9020-955120F399B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E99AD-9348-1084-6E11-26968BDE3782}"/>
              </a:ext>
            </a:extLst>
          </p:cNvPr>
          <p:cNvSpPr txBox="1"/>
          <p:nvPr userDrawn="1"/>
        </p:nvSpPr>
        <p:spPr>
          <a:xfrm>
            <a:off x="11741419" y="-1537"/>
            <a:ext cx="457200" cy="457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4000" b="0" dirty="0">
                <a:solidFill>
                  <a:schemeClr val="accent3"/>
                </a:solidFill>
                <a:latin typeface="+mn-lt"/>
                <a:ea typeface="BIZ UDPGothic" panose="020B0400000000000000" pitchFamily="34" charset="-128"/>
              </a:rPr>
              <a:t>*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047422-8CC9-77AE-C87B-852011B8253E}"/>
              </a:ext>
            </a:extLst>
          </p:cNvPr>
          <p:cNvCxnSpPr>
            <a:cxnSpLocks/>
          </p:cNvCxnSpPr>
          <p:nvPr userDrawn="1"/>
        </p:nvCxnSpPr>
        <p:spPr>
          <a:xfrm>
            <a:off x="0" y="457200"/>
            <a:ext cx="121920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C25401-8B16-54B2-8DFB-324B1C3F7DD3}"/>
              </a:ext>
            </a:extLst>
          </p:cNvPr>
          <p:cNvCxnSpPr>
            <a:cxnSpLocks/>
          </p:cNvCxnSpPr>
          <p:nvPr userDrawn="1"/>
        </p:nvCxnSpPr>
        <p:spPr>
          <a:xfrm>
            <a:off x="11734800" y="0"/>
            <a:ext cx="0" cy="685800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702C82C-C24B-9094-A3C6-7670E28B8D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8991601" y="3200399"/>
            <a:ext cx="5943596" cy="457199"/>
          </a:xfrm>
          <a:prstGeom prst="rect">
            <a:avLst/>
          </a:prstGeom>
        </p:spPr>
        <p:txBody>
          <a:bodyPr anchor="ctr"/>
          <a:lstStyle>
            <a:lvl1pPr algn="ctr">
              <a:defRPr sz="1200" b="1" i="0" spc="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/>
              <a:t>Add 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4000" b="1" kern="1200" spc="-150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125000"/>
        </a:lnSpc>
        <a:spcBef>
          <a:spcPts val="0"/>
        </a:spcBef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7D8619-1B86-47C0-0EF6-BD7B3346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1691640"/>
            <a:ext cx="7708392" cy="2916936"/>
          </a:xfrm>
        </p:spPr>
        <p:txBody>
          <a:bodyPr/>
          <a:lstStyle/>
          <a:p>
            <a:r>
              <a:rPr lang="sr-Latn-RS" dirty="0"/>
              <a:t>Klasifikacija cveća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923FBA-7788-70A6-BB80-20E32A13EA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25296" y="4200580"/>
            <a:ext cx="7251192" cy="1088136"/>
          </a:xfrm>
        </p:spPr>
        <p:txBody>
          <a:bodyPr/>
          <a:lstStyle/>
          <a:p>
            <a:r>
              <a:rPr lang="sr-Latn-RS" dirty="0"/>
              <a:t>Poređenje klasičnih metoda i CNN modela</a:t>
            </a:r>
          </a:p>
          <a:p>
            <a:r>
              <a:rPr lang="sr-Latn-RS"/>
              <a:t>Uticaj </a:t>
            </a:r>
            <a:r>
              <a:rPr lang="sr-Latn-RS" dirty="0"/>
              <a:t>augmentacije podataka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39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35764A-06BF-17D4-EE6D-670F5F3F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sr-Latn-RS" dirty="0"/>
              <a:t>O skupu podataka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B3696-52AB-4FB9-4BF7-D8F7C8A7567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1630237"/>
            <a:ext cx="10570145" cy="1400346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102 klase cveća</a:t>
            </a:r>
            <a:endParaRPr lang="en-US" dirty="0"/>
          </a:p>
          <a:p>
            <a:r>
              <a:rPr lang="sr-Latn-RS" dirty="0"/>
              <a:t>Ukupno 8189 slika</a:t>
            </a:r>
          </a:p>
          <a:p>
            <a:r>
              <a:rPr lang="sr-Latn-RS" dirty="0"/>
              <a:t>RGB format</a:t>
            </a:r>
          </a:p>
          <a:p>
            <a:r>
              <a:rPr lang="sr-Latn-RS" dirty="0"/>
              <a:t>Prosečna veličina 630x534px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DF6CA-8CF2-F784-C54C-19B5396237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67467-ECD7-8783-C514-8E909441E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257890"/>
            <a:ext cx="10570145" cy="314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70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6FD60E-B013-52DF-354C-D8DB8814C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anchor="t">
            <a:normAutofit/>
          </a:bodyPr>
          <a:lstStyle/>
          <a:p>
            <a:r>
              <a:rPr lang="sr-Latn-RS" dirty="0"/>
              <a:t>Priprema podataka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8CCA87-222E-119C-9BEB-BC412FE44B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2" b="-3"/>
          <a:stretch>
            <a:fillRect/>
          </a:stretch>
        </p:blipFill>
        <p:spPr>
          <a:xfrm>
            <a:off x="768096" y="2130552"/>
            <a:ext cx="4910328" cy="3959352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1CBCB-2951-076C-4CAB-1BC00C3F17D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96000" y="2130552"/>
            <a:ext cx="5334000" cy="3959352"/>
          </a:xfrm>
        </p:spPr>
        <p:txBody>
          <a:bodyPr anchor="t">
            <a:norm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r-Latn-RS" dirty="0"/>
              <a:t>Podela na skup za trening, validaiju i test (70:15:15)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r-Latn-RS" dirty="0"/>
              <a:t>Standardizacija podataka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sr-Latn-RS" dirty="0"/>
              <a:t>Izdvajanje HOG i HSV atributa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775CAD-60B4-E2CC-3451-3AB56951D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53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B2C8-BB45-038C-0952-635C551B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Kernelizovani KNN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4F2A91-1784-906C-7872-3216B5005E4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761999" y="1808335"/>
                <a:ext cx="4910328" cy="3959352"/>
              </a:xfrm>
            </p:spPr>
            <p:txBody>
              <a:bodyPr/>
              <a:lstStyle/>
              <a:p>
                <a:r>
                  <a:rPr lang="sr-Latn-RS" b="1" dirty="0">
                    <a:latin typeface="+mj-lt"/>
                  </a:rPr>
                  <a:t>Kernel kao težine</a:t>
                </a:r>
              </a:p>
              <a:p>
                <a:pPr marL="749808" lvl="2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sup>
                      </m:sSup>
                    </m:oMath>
                  </m:oMathPara>
                </a14:m>
                <a:endParaRPr lang="sr-Latn-RS" dirty="0"/>
              </a:p>
              <a:p>
                <a:r>
                  <a:rPr lang="sr-Latn-RS" dirty="0"/>
                  <a:t>Hiperparametri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sr-Latn-RS" dirty="0"/>
                  <a:t> i </a:t>
                </a:r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sr-Latn-RS" dirty="0"/>
                  <a:t> – bliži susedi imaju veću težinu</a:t>
                </a:r>
              </a:p>
              <a:p>
                <a:pPr lvl="1"/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sr-Latn-RS" dirty="0"/>
                  <a:t> – broj suseda</a:t>
                </a:r>
              </a:p>
              <a:p>
                <a:r>
                  <a:rPr lang="sr-Latn-RS" dirty="0"/>
                  <a:t>Najbolji hiperparametri:</a:t>
                </a:r>
              </a:p>
              <a:p>
                <a:pPr marL="384048" lvl="1" indent="0">
                  <a:buNone/>
                </a:pP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=0.001, k=51, </a:t>
                </a: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validation_accuracy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=0.17</a:t>
                </a:r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Ta</a:t>
                </a:r>
                <a:r>
                  <a:rPr lang="sr-Latn-RS" dirty="0">
                    <a:ea typeface="Cambria Math" panose="02040503050406030204" pitchFamily="18" charset="0"/>
                  </a:rPr>
                  <a:t>čnost na test skupu: </a:t>
                </a:r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0.172</a:t>
                </a:r>
                <a:endParaRPr lang="sr-Latn-RS" dirty="0"/>
              </a:p>
              <a:p>
                <a:endParaRPr lang="sr-Latn-RS" dirty="0"/>
              </a:p>
              <a:p>
                <a:pPr lvl="1"/>
                <a:endParaRPr lang="sr-Latn-R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4F2A91-1784-906C-7872-3216B5005E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761999" y="1808335"/>
                <a:ext cx="4910328" cy="3959352"/>
              </a:xfrm>
              <a:blipFill>
                <a:blip r:embed="rId2"/>
                <a:stretch>
                  <a:fillRect l="-745" t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C4F0FA7-C1F7-2A47-4745-6DE349330FFB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  <p:extLst>
                  <p:ext uri="{D42A27DB-BD31-4B8C-83A1-F6EECF244321}">
                    <p14:modId xmlns:p14="http://schemas.microsoft.com/office/powerpoint/2010/main" val="2092117213"/>
                  </p:ext>
                </p:extLst>
              </p:nvPr>
            </p:nvGraphicFramePr>
            <p:xfrm>
              <a:off x="5791200" y="1911096"/>
              <a:ext cx="5638807" cy="74168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625025">
                      <a:extLst>
                        <a:ext uri="{9D8B030D-6E8A-4147-A177-3AD203B41FA5}">
                          <a16:colId xmlns:a16="http://schemas.microsoft.com/office/drawing/2014/main" val="2749296223"/>
                        </a:ext>
                      </a:extLst>
                    </a:gridCol>
                    <a:gridCol w="986062">
                      <a:extLst>
                        <a:ext uri="{9D8B030D-6E8A-4147-A177-3AD203B41FA5}">
                          <a16:colId xmlns:a16="http://schemas.microsoft.com/office/drawing/2014/main" val="3714419110"/>
                        </a:ext>
                      </a:extLst>
                    </a:gridCol>
                    <a:gridCol w="805544">
                      <a:extLst>
                        <a:ext uri="{9D8B030D-6E8A-4147-A177-3AD203B41FA5}">
                          <a16:colId xmlns:a16="http://schemas.microsoft.com/office/drawing/2014/main" val="879659236"/>
                        </a:ext>
                      </a:extLst>
                    </a:gridCol>
                    <a:gridCol w="805544">
                      <a:extLst>
                        <a:ext uri="{9D8B030D-6E8A-4147-A177-3AD203B41FA5}">
                          <a16:colId xmlns:a16="http://schemas.microsoft.com/office/drawing/2014/main" val="4214106616"/>
                        </a:ext>
                      </a:extLst>
                    </a:gridCol>
                    <a:gridCol w="805544">
                      <a:extLst>
                        <a:ext uri="{9D8B030D-6E8A-4147-A177-3AD203B41FA5}">
                          <a16:colId xmlns:a16="http://schemas.microsoft.com/office/drawing/2014/main" val="2424600965"/>
                        </a:ext>
                      </a:extLst>
                    </a:gridCol>
                    <a:gridCol w="805544">
                      <a:extLst>
                        <a:ext uri="{9D8B030D-6E8A-4147-A177-3AD203B41FA5}">
                          <a16:colId xmlns:a16="http://schemas.microsoft.com/office/drawing/2014/main" val="923431709"/>
                        </a:ext>
                      </a:extLst>
                    </a:gridCol>
                    <a:gridCol w="805544">
                      <a:extLst>
                        <a:ext uri="{9D8B030D-6E8A-4147-A177-3AD203B41FA5}">
                          <a16:colId xmlns:a16="http://schemas.microsoft.com/office/drawing/2014/main" val="12727409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0.0001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44624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k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46411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C4F0FA7-C1F7-2A47-4745-6DE349330FFB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  <p:extLst>
                  <p:ext uri="{D42A27DB-BD31-4B8C-83A1-F6EECF244321}">
                    <p14:modId xmlns:p14="http://schemas.microsoft.com/office/powerpoint/2010/main" val="2092117213"/>
                  </p:ext>
                </p:extLst>
              </p:nvPr>
            </p:nvGraphicFramePr>
            <p:xfrm>
              <a:off x="5791200" y="1911096"/>
              <a:ext cx="5638807" cy="74168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625025">
                      <a:extLst>
                        <a:ext uri="{9D8B030D-6E8A-4147-A177-3AD203B41FA5}">
                          <a16:colId xmlns:a16="http://schemas.microsoft.com/office/drawing/2014/main" val="2749296223"/>
                        </a:ext>
                      </a:extLst>
                    </a:gridCol>
                    <a:gridCol w="986062">
                      <a:extLst>
                        <a:ext uri="{9D8B030D-6E8A-4147-A177-3AD203B41FA5}">
                          <a16:colId xmlns:a16="http://schemas.microsoft.com/office/drawing/2014/main" val="3714419110"/>
                        </a:ext>
                      </a:extLst>
                    </a:gridCol>
                    <a:gridCol w="805544">
                      <a:extLst>
                        <a:ext uri="{9D8B030D-6E8A-4147-A177-3AD203B41FA5}">
                          <a16:colId xmlns:a16="http://schemas.microsoft.com/office/drawing/2014/main" val="879659236"/>
                        </a:ext>
                      </a:extLst>
                    </a:gridCol>
                    <a:gridCol w="805544">
                      <a:extLst>
                        <a:ext uri="{9D8B030D-6E8A-4147-A177-3AD203B41FA5}">
                          <a16:colId xmlns:a16="http://schemas.microsoft.com/office/drawing/2014/main" val="4214106616"/>
                        </a:ext>
                      </a:extLst>
                    </a:gridCol>
                    <a:gridCol w="805544">
                      <a:extLst>
                        <a:ext uri="{9D8B030D-6E8A-4147-A177-3AD203B41FA5}">
                          <a16:colId xmlns:a16="http://schemas.microsoft.com/office/drawing/2014/main" val="2424600965"/>
                        </a:ext>
                      </a:extLst>
                    </a:gridCol>
                    <a:gridCol w="805544">
                      <a:extLst>
                        <a:ext uri="{9D8B030D-6E8A-4147-A177-3AD203B41FA5}">
                          <a16:colId xmlns:a16="http://schemas.microsoft.com/office/drawing/2014/main" val="923431709"/>
                        </a:ext>
                      </a:extLst>
                    </a:gridCol>
                    <a:gridCol w="805544">
                      <a:extLst>
                        <a:ext uri="{9D8B030D-6E8A-4147-A177-3AD203B41FA5}">
                          <a16:colId xmlns:a16="http://schemas.microsoft.com/office/drawing/2014/main" val="12727409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8065" r="-800000" b="-1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0.0001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44624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k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46411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9DEFB-9861-6F6B-46D7-FA4DD7191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FA8F33-4E36-857A-F7F3-56EFFF97B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671" y="3142960"/>
            <a:ext cx="4093572" cy="333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115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5127F-4783-7917-FD74-4304A733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1BCC-29F6-8DB2-02D1-837183310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Kernelizovani KNN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78D0B-D2BD-37F2-78D1-B832A89DA14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761999" y="1808335"/>
                <a:ext cx="4910328" cy="395935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sr-Latn-RS" b="1" dirty="0">
                    <a:latin typeface="+mj-lt"/>
                  </a:rPr>
                  <a:t>Kernel kao rastojanje</a:t>
                </a:r>
              </a:p>
              <a:p>
                <a:pPr marL="749808" lvl="2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sr-Latn-RS" i="1" smtClean="0">
                          <a:latin typeface="Cambria Math" panose="02040503050406030204" pitchFamily="18" charset="0"/>
                        </a:rPr>
                        <m:t>ⅆ</m:t>
                      </m:r>
                      <m:d>
                        <m:dPr>
                          <m:ctrlPr>
                            <a:rPr lang="sr-Latn-R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′ </m:t>
                          </m:r>
                        </m:e>
                      </m:d>
                      <m:r>
                        <a:rPr lang="sr-Latn-RS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sr-Latn-R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sr-Latn-RS" i="1" smtClean="0">
                              <a:latin typeface="Cambria Math" panose="02040503050406030204" pitchFamily="18" charset="0"/>
                            </a:rPr>
                            <m:t>2−2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r-Latn-RS" b="0" i="1" smtClean="0">
                              <a:latin typeface="Cambria Math" panose="02040503050406030204" pitchFamily="18" charset="0"/>
                            </a:rPr>
                            <m:t>′)</m:t>
                          </m:r>
                        </m:e>
                      </m:rad>
                    </m:oMath>
                  </m:oMathPara>
                </a14:m>
                <a:endParaRPr lang="sr-Latn-RS" dirty="0"/>
              </a:p>
              <a:p>
                <a:pPr marL="749808" lvl="2" indent="0">
                  <a:buNone/>
                </a:pPr>
                <a:r>
                  <a:rPr lang="sr-Latn-RS" dirty="0"/>
                  <a:t>K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sr-Latn-R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sr-Latn-R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sr-Latn-R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sr-Latn-RS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sr-Latn-RS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sr-Latn-R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r-Latn-RS" i="1" smtClean="0"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sr-Latn-R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f>
                          <m:fPr>
                            <m:ctrlPr>
                              <a:rPr lang="sr-Latn-R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sr-Latn-R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sr-Latn-R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sr-Latn-R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sr-Latn-R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sr-Latn-R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sr-Latn-R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sr-Latn-RS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sr-Latn-R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sr-Latn-R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sr-Latn-R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sr-Latn-R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r-Latn-R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sr-Latn-R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sr-Latn-RS" dirty="0"/>
              </a:p>
              <a:p>
                <a:r>
                  <a:rPr lang="sr-Latn-RS" dirty="0"/>
                  <a:t>Hiperparametri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sr-Latn-RS" dirty="0"/>
                  <a:t> i </a:t>
                </a:r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sr-Latn-RS" dirty="0"/>
                  <a:t> – faktor skaliranja </a:t>
                </a:r>
              </a:p>
              <a:p>
                <a:pPr lvl="1"/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sr-Latn-RS" dirty="0"/>
                  <a:t> – broj suseda</a:t>
                </a:r>
              </a:p>
              <a:p>
                <a:r>
                  <a:rPr lang="sr-Latn-RS" dirty="0"/>
                  <a:t>Najbolji hiperparametri:</a:t>
                </a:r>
              </a:p>
              <a:p>
                <a:pPr marL="384048" lvl="1" indent="0">
                  <a:buNone/>
                </a:pPr>
                <a:r>
                  <a:rPr lang="el-GR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γ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=0.00</a:t>
                </a:r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k=5, </a:t>
                </a: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validation_accuracy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=0.1</a:t>
                </a:r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53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sr-Latn-RS" dirty="0"/>
                  <a:t>RBF kernel sa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χ</m:t>
                        </m:r>
                      </m:e>
                      <m:sup>
                        <m:r>
                          <a:rPr lang="sr-Latn-R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sr-Latn-RS" dirty="0"/>
                  <a:t> rastojanjima pretpostavlja histogramsku strukturu ulaza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278D0B-D2BD-37F2-78D1-B832A89DA1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761999" y="1808335"/>
                <a:ext cx="4910328" cy="3959352"/>
              </a:xfrm>
              <a:blipFill>
                <a:blip r:embed="rId2"/>
                <a:stretch>
                  <a:fillRect l="-745" t="-924" b="-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B2636046-1491-0700-7572-214A0A8C65EB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  <p:extLst>
                  <p:ext uri="{D42A27DB-BD31-4B8C-83A1-F6EECF244321}">
                    <p14:modId xmlns:p14="http://schemas.microsoft.com/office/powerpoint/2010/main" val="3856799438"/>
                  </p:ext>
                </p:extLst>
              </p:nvPr>
            </p:nvGraphicFramePr>
            <p:xfrm>
              <a:off x="5738950" y="1911096"/>
              <a:ext cx="5691050" cy="74168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630816">
                      <a:extLst>
                        <a:ext uri="{9D8B030D-6E8A-4147-A177-3AD203B41FA5}">
                          <a16:colId xmlns:a16="http://schemas.microsoft.com/office/drawing/2014/main" val="2749296223"/>
                        </a:ext>
                      </a:extLst>
                    </a:gridCol>
                    <a:gridCol w="995199">
                      <a:extLst>
                        <a:ext uri="{9D8B030D-6E8A-4147-A177-3AD203B41FA5}">
                          <a16:colId xmlns:a16="http://schemas.microsoft.com/office/drawing/2014/main" val="3714419110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879659236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4214106616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2424600965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92343170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12727409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0.0001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44624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k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46411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B2636046-1491-0700-7572-214A0A8C65EB}"/>
                  </a:ext>
                </a:extLst>
              </p:cNvPr>
              <p:cNvGraphicFramePr>
                <a:graphicFrameLocks noGrp="1"/>
              </p:cNvGraphicFramePr>
              <p:nvPr>
                <p:ph sz="quarter" idx="12"/>
                <p:extLst>
                  <p:ext uri="{D42A27DB-BD31-4B8C-83A1-F6EECF244321}">
                    <p14:modId xmlns:p14="http://schemas.microsoft.com/office/powerpoint/2010/main" val="3856799438"/>
                  </p:ext>
                </p:extLst>
              </p:nvPr>
            </p:nvGraphicFramePr>
            <p:xfrm>
              <a:off x="5738950" y="1911096"/>
              <a:ext cx="5691050" cy="741680"/>
            </p:xfrm>
            <a:graphic>
              <a:graphicData uri="http://schemas.openxmlformats.org/drawingml/2006/table">
                <a:tbl>
                  <a:tblPr firstRow="1" bandRow="1">
                    <a:tableStyleId>{C083E6E3-FA7D-4D7B-A595-EF9225AFEA82}</a:tableStyleId>
                  </a:tblPr>
                  <a:tblGrid>
                    <a:gridCol w="630816">
                      <a:extLst>
                        <a:ext uri="{9D8B030D-6E8A-4147-A177-3AD203B41FA5}">
                          <a16:colId xmlns:a16="http://schemas.microsoft.com/office/drawing/2014/main" val="2749296223"/>
                        </a:ext>
                      </a:extLst>
                    </a:gridCol>
                    <a:gridCol w="995199">
                      <a:extLst>
                        <a:ext uri="{9D8B030D-6E8A-4147-A177-3AD203B41FA5}">
                          <a16:colId xmlns:a16="http://schemas.microsoft.com/office/drawing/2014/main" val="3714419110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879659236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4214106616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2424600965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92343170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12727409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t="-8065" r="-800000" b="-1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0.0001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0.1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/>
                            <a:t>10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44624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k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sr-Latn-R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46411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8437D-8C24-8D4C-F058-D632D7C5F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D83183-61AB-A6F0-6401-95CAF5FC3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671" y="3169085"/>
            <a:ext cx="4093571" cy="339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0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10CA1-FD8D-9DD6-2BCA-CAC4155A8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BB84-CACB-93DA-6C08-D99414CD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Kernelizovani KNN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7764C-DCF1-F8D1-A2B6-B9E42320888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761999" y="1808334"/>
                <a:ext cx="4939068" cy="421332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sr-Latn-RS" b="1" dirty="0">
                    <a:latin typeface="+mj-lt"/>
                  </a:rPr>
                  <a:t>Kernel kao rastojanje + HOG i HSV atributi</a:t>
                </a:r>
                <a:endParaRPr lang="sr-Latn-RS" dirty="0"/>
              </a:p>
              <a:p>
                <a:r>
                  <a:rPr lang="sr-Latn-RS" dirty="0"/>
                  <a:t>Hiperparametri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i="1">
                            <a:latin typeface="Cambria Math" panose="02040503050406030204" pitchFamily="18" charset="0"/>
                          </a:rPr>
                          <m:t>HOG</m:t>
                        </m:r>
                        <m:r>
                          <a:rPr lang="sr-Latn-R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sr-Latn-R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i="1">
                            <a:latin typeface="Cambria Math" panose="02040503050406030204" pitchFamily="18" charset="0"/>
                          </a:rPr>
                          <m:t>HSV</m:t>
                        </m:r>
                        <m:r>
                          <a:rPr lang="sr-Latn-R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sr-Latn-R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sr-Latn-RS" dirty="0"/>
                  <a:t> </a:t>
                </a:r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k, w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b="0" i="1" smtClean="0">
                            <a:latin typeface="Cambria Math" panose="02040503050406030204" pitchFamily="18" charset="0"/>
                          </a:rPr>
                          <m:t>HOG</m:t>
                        </m:r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sr-Latn-R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b="0" i="1" smtClean="0">
                            <a:latin typeface="Cambria Math" panose="02040503050406030204" pitchFamily="18" charset="0"/>
                          </a:rPr>
                          <m:t>HSV</m:t>
                        </m:r>
                        <m:r>
                          <a:rPr lang="sr-Latn-R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sr-Latn-RS" dirty="0"/>
                  <a:t>– faktor skaliranja </a:t>
                </a:r>
              </a:p>
              <a:p>
                <a:pPr lvl="1"/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sr-Latn-RS" dirty="0"/>
                  <a:t> – broj suseda</a:t>
                </a:r>
              </a:p>
              <a:p>
                <a:pPr lvl="1"/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 </a:t>
                </a:r>
                <a:r>
                  <a:rPr lang="sr-Latn-RS" dirty="0">
                    <a:ea typeface="Cambria Math" panose="02040503050406030204" pitchFamily="18" charset="0"/>
                  </a:rPr>
                  <a:t>– težina uticaja HOG atributa</a:t>
                </a:r>
              </a:p>
              <a:p>
                <a:r>
                  <a:rPr lang="sr-Latn-RS" dirty="0">
                    <a:ea typeface="Cambria Math" panose="02040503050406030204" pitchFamily="18" charset="0"/>
                  </a:rPr>
                  <a:t>Heuristika zasnovana na medijani</a:t>
                </a:r>
                <a:r>
                  <a:rPr lang="en-US" dirty="0">
                    <a:ea typeface="Cambria Math" panose="02040503050406030204" pitchFamily="18" charset="0"/>
                  </a:rPr>
                  <a:t> za </a:t>
                </a:r>
                <a:r>
                  <a:rPr lang="en-US" dirty="0" err="1">
                    <a:ea typeface="Cambria Math" panose="02040503050406030204" pitchFamily="18" charset="0"/>
                  </a:rPr>
                  <a:t>izbor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dirty="0" err="1">
                    <a:ea typeface="Cambria Math" panose="02040503050406030204" pitchFamily="18" charset="0"/>
                  </a:rPr>
                  <a:t>inicijalnih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dirty="0" err="1">
                    <a:ea typeface="Cambria Math" panose="02040503050406030204" pitchFamily="18" charset="0"/>
                  </a:rPr>
                  <a:t>vrednosti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dirty="0" err="1">
                    <a:ea typeface="Cambria Math" panose="02040503050406030204" pitchFamily="18" charset="0"/>
                  </a:rPr>
                  <a:t>hiperparametara</a:t>
                </a:r>
                <a:endParaRPr lang="sr-Latn-RS" dirty="0">
                  <a:ea typeface="Cambria Math" panose="02040503050406030204" pitchFamily="18" charset="0"/>
                </a:endParaRPr>
              </a:p>
              <a:p>
                <a:r>
                  <a:rPr lang="sr-Latn-RS" dirty="0"/>
                  <a:t>Najbolji hiperparametri:</a:t>
                </a:r>
              </a:p>
              <a:p>
                <a:pPr marL="384048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i="1">
                            <a:latin typeface="Cambria Math" panose="02040503050406030204" pitchFamily="18" charset="0"/>
                          </a:rPr>
                          <m:t>HOG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=0.005,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i="1">
                            <a:latin typeface="Cambria Math" panose="02040503050406030204" pitchFamily="18" charset="0"/>
                          </a:rPr>
                          <m:t>HSV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=2.51, k=5, w=0.2 </a:t>
                </a: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validation_accuracy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=0.454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Ta</a:t>
                </a:r>
                <a:r>
                  <a:rPr lang="sr-Latn-RS" dirty="0">
                    <a:ea typeface="Cambria Math" panose="02040503050406030204" pitchFamily="18" charset="0"/>
                  </a:rPr>
                  <a:t>čnost na test skupu: </a:t>
                </a:r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463</a:t>
                </a:r>
                <a:endParaRPr lang="sr-Latn-RS" dirty="0"/>
              </a:p>
              <a:p>
                <a:pPr lvl="1"/>
                <a:endParaRPr lang="sr-Latn-R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47764C-DCF1-F8D1-A2B6-B9E4232088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761999" y="1808334"/>
                <a:ext cx="4939068" cy="4213325"/>
              </a:xfrm>
              <a:blipFill>
                <a:blip r:embed="rId2"/>
                <a:stretch>
                  <a:fillRect l="-741" t="-868" b="-1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45E8D-D468-DF50-AE37-C7A5B7D6F9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9DCA6CA-A9B2-BE7E-64E7-5170CFB9D0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787881"/>
                  </p:ext>
                </p:extLst>
              </p:nvPr>
            </p:nvGraphicFramePr>
            <p:xfrm>
              <a:off x="5701067" y="1911096"/>
              <a:ext cx="5691049" cy="148336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618307">
                      <a:extLst>
                        <a:ext uri="{9D8B030D-6E8A-4147-A177-3AD203B41FA5}">
                          <a16:colId xmlns:a16="http://schemas.microsoft.com/office/drawing/2014/main" val="3196921256"/>
                        </a:ext>
                      </a:extLst>
                    </a:gridCol>
                    <a:gridCol w="1007707">
                      <a:extLst>
                        <a:ext uri="{9D8B030D-6E8A-4147-A177-3AD203B41FA5}">
                          <a16:colId xmlns:a16="http://schemas.microsoft.com/office/drawing/2014/main" val="2869703800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37820178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4126901246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349064654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75178892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24040181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𝛾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sr-Latn-RS" b="0" smtClean="0"/>
                                      <m:t>HOG</m:t>
                                    </m:r>
                                    <m:r>
                                      <a:rPr lang="sr-Latn-RS" b="0" smtClean="0"/>
                                      <m:t>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0.002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0.011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0.022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0.044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461873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/>
                                    </m:ctrlPr>
                                  </m:sSubPr>
                                  <m:e>
                                    <m:r>
                                      <a:rPr lang="en-US"/>
                                      <m:t>𝛾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sr-Latn-RS" b="0" smtClean="0"/>
                                      <m:t>HSV</m:t>
                                    </m:r>
                                    <m:r>
                                      <a:rPr lang="sr-Latn-RS"/>
                                      <m:t>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0.06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3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0.157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0.31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0.6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3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1.2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59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2.519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51959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k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496386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6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np.linspace</a:t>
                          </a:r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(0, 1, 11)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210277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9DCA6CA-A9B2-BE7E-64E7-5170CFB9D0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787881"/>
                  </p:ext>
                </p:extLst>
              </p:nvPr>
            </p:nvGraphicFramePr>
            <p:xfrm>
              <a:off x="5701067" y="1911096"/>
              <a:ext cx="5691049" cy="148336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618307">
                      <a:extLst>
                        <a:ext uri="{9D8B030D-6E8A-4147-A177-3AD203B41FA5}">
                          <a16:colId xmlns:a16="http://schemas.microsoft.com/office/drawing/2014/main" val="3196921256"/>
                        </a:ext>
                      </a:extLst>
                    </a:gridCol>
                    <a:gridCol w="1007707">
                      <a:extLst>
                        <a:ext uri="{9D8B030D-6E8A-4147-A177-3AD203B41FA5}">
                          <a16:colId xmlns:a16="http://schemas.microsoft.com/office/drawing/2014/main" val="2869703800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37820178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4126901246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349064654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75178892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24040181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9836" r="-825743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0.002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0.011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0.022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0.044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461873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109836" r="-825743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0.06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3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0.157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0.31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0.6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3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1.2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59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2.519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51959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k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15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51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496386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6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np.linspace</a:t>
                          </a:r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(0, 1, 11)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210277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485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6FD1-1D71-ED2A-5735-2617F4F4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B90B0-C839-C7AE-9409-172C20ABE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Kernelizovani </a:t>
            </a:r>
            <a:r>
              <a:rPr lang="en-US" dirty="0"/>
              <a:t>SVM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74DCA-8D8F-1414-012B-39F2DEF6ABE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761999" y="1808334"/>
                <a:ext cx="4939068" cy="4213325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χ²</a:t>
                </a:r>
                <a:r>
                  <a:rPr lang="en-US" dirty="0"/>
                  <a:t> kernel</a:t>
                </a:r>
              </a:p>
              <a:p>
                <a:r>
                  <a:rPr lang="sr-Latn-RS" dirty="0"/>
                  <a:t>Hiperparametri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i="1">
                            <a:latin typeface="Cambria Math" panose="02040503050406030204" pitchFamily="18" charset="0"/>
                          </a:rPr>
                          <m:t>HOG</m:t>
                        </m:r>
                        <m:r>
                          <a:rPr lang="sr-Latn-R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sr-Latn-R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i="1">
                            <a:latin typeface="Cambria Math" panose="02040503050406030204" pitchFamily="18" charset="0"/>
                          </a:rPr>
                          <m:t>HSV</m:t>
                        </m:r>
                        <m:r>
                          <a:rPr lang="sr-Latn-R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sr-Latn-R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sr-Latn-RS" dirty="0"/>
                  <a:t>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w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b="0" i="1" smtClean="0">
                            <a:latin typeface="Cambria Math" panose="02040503050406030204" pitchFamily="18" charset="0"/>
                          </a:rPr>
                          <m:t>HOG</m:t>
                        </m:r>
                        <m:r>
                          <a:rPr lang="sr-Latn-R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sr-Latn-R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b="0" i="1" smtClean="0">
                            <a:latin typeface="Cambria Math" panose="02040503050406030204" pitchFamily="18" charset="0"/>
                          </a:rPr>
                          <m:t>HSV</m:t>
                        </m:r>
                        <m:r>
                          <a:rPr lang="sr-Latn-R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sr-Latn-RS" dirty="0"/>
                  <a:t>– faktor skaliranja 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C</a:t>
                </a:r>
                <a:r>
                  <a:rPr lang="en-US" dirty="0">
                    <a:ea typeface="Cambria Math" panose="02040503050406030204" pitchFamily="18" charset="0"/>
                  </a:rPr>
                  <a:t> – parameter </a:t>
                </a:r>
                <a:r>
                  <a:rPr lang="en-US" dirty="0" err="1">
                    <a:ea typeface="Cambria Math" panose="02040503050406030204" pitchFamily="18" charset="0"/>
                  </a:rPr>
                  <a:t>regularizacije</a:t>
                </a:r>
                <a:endParaRPr lang="sr-Latn-RS" dirty="0"/>
              </a:p>
              <a:p>
                <a:pPr lvl="1"/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 </a:t>
                </a:r>
                <a:r>
                  <a:rPr lang="sr-Latn-RS" dirty="0">
                    <a:ea typeface="Cambria Math" panose="02040503050406030204" pitchFamily="18" charset="0"/>
                  </a:rPr>
                  <a:t>– težina uticaja HOG atributa</a:t>
                </a:r>
              </a:p>
              <a:p>
                <a:r>
                  <a:rPr lang="sr-Latn-RS" dirty="0"/>
                  <a:t>Najbolji hiperparametri:</a:t>
                </a:r>
              </a:p>
              <a:p>
                <a:pPr marL="384048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i="1">
                            <a:latin typeface="Cambria Math" panose="02040503050406030204" pitchFamily="18" charset="0"/>
                          </a:rPr>
                          <m:t>HOG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=0.005,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r-Latn-RS" i="1">
                            <a:latin typeface="Cambria Math" panose="02040503050406030204" pitchFamily="18" charset="0"/>
                          </a:rPr>
                          <m:t>HSV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=0.629, C=10, w=0.5 </a:t>
                </a: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validation_accuracy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=0.633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Ta</a:t>
                </a:r>
                <a:r>
                  <a:rPr lang="sr-Latn-RS" dirty="0">
                    <a:ea typeface="Cambria Math" panose="02040503050406030204" pitchFamily="18" charset="0"/>
                  </a:rPr>
                  <a:t>čnost na test skupu: </a:t>
                </a:r>
                <a:r>
                  <a:rPr lang="sr-Latn-R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643	</a:t>
                </a:r>
                <a:endParaRPr lang="sr-Latn-RS" dirty="0"/>
              </a:p>
              <a:p>
                <a:pPr lvl="1"/>
                <a:endParaRPr lang="sr-Latn-R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74DCA-8D8F-1414-012B-39F2DEF6AB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761999" y="1808334"/>
                <a:ext cx="4939068" cy="4213325"/>
              </a:xfrm>
              <a:blipFill>
                <a:blip r:embed="rId2"/>
                <a:stretch>
                  <a:fillRect l="-741" t="-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A7963-1A8B-4D1C-2A32-31D7171594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8D21B4A-59FF-F8B9-8AF4-D40F38BEB2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8064289"/>
                  </p:ext>
                </p:extLst>
              </p:nvPr>
            </p:nvGraphicFramePr>
            <p:xfrm>
              <a:off x="761999" y="5119624"/>
              <a:ext cx="5691049" cy="148336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618307">
                      <a:extLst>
                        <a:ext uri="{9D8B030D-6E8A-4147-A177-3AD203B41FA5}">
                          <a16:colId xmlns:a16="http://schemas.microsoft.com/office/drawing/2014/main" val="3196921256"/>
                        </a:ext>
                      </a:extLst>
                    </a:gridCol>
                    <a:gridCol w="1007707">
                      <a:extLst>
                        <a:ext uri="{9D8B030D-6E8A-4147-A177-3AD203B41FA5}">
                          <a16:colId xmlns:a16="http://schemas.microsoft.com/office/drawing/2014/main" val="2869703800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37820178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4126901246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349064654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75178892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24040181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sr-Latn-RS" b="0" smtClean="0">
                                        <a:latin typeface="Cambria Math" panose="02040503050406030204" pitchFamily="18" charset="0"/>
                                      </a:rPr>
                                      <m:t>HOG</m:t>
                                    </m:r>
                                    <m:r>
                                      <a:rPr lang="sr-Latn-RS" b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0.002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0.011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0.022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0.044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461873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sr-Latn-RS" b="0" smtClean="0">
                                        <a:latin typeface="Cambria Math" panose="02040503050406030204" pitchFamily="18" charset="0"/>
                                      </a:rPr>
                                      <m:t>HSV</m:t>
                                    </m:r>
                                    <m:r>
                                      <a:rPr lang="sr-Latn-RS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0.06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3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0.157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0.31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0.6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3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1.2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59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2.519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51959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6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np.logspace</a:t>
                          </a:r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(-2, 10, 13)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496386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6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np.linspace</a:t>
                          </a:r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(0, 1, 11)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210277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8D21B4A-59FF-F8B9-8AF4-D40F38BEB2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88064289"/>
                  </p:ext>
                </p:extLst>
              </p:nvPr>
            </p:nvGraphicFramePr>
            <p:xfrm>
              <a:off x="761999" y="5119624"/>
              <a:ext cx="5691049" cy="1483360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618307">
                      <a:extLst>
                        <a:ext uri="{9D8B030D-6E8A-4147-A177-3AD203B41FA5}">
                          <a16:colId xmlns:a16="http://schemas.microsoft.com/office/drawing/2014/main" val="3196921256"/>
                        </a:ext>
                      </a:extLst>
                    </a:gridCol>
                    <a:gridCol w="1007707">
                      <a:extLst>
                        <a:ext uri="{9D8B030D-6E8A-4147-A177-3AD203B41FA5}">
                          <a16:colId xmlns:a16="http://schemas.microsoft.com/office/drawing/2014/main" val="2869703800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37820178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4126901246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349064654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751788929"/>
                        </a:ext>
                      </a:extLst>
                    </a:gridCol>
                    <a:gridCol w="813007">
                      <a:extLst>
                        <a:ext uri="{9D8B030D-6E8A-4147-A177-3AD203B41FA5}">
                          <a16:colId xmlns:a16="http://schemas.microsoft.com/office/drawing/2014/main" val="240401818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980" t="-9836" r="-817647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0.002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0.005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0.011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0.022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0.044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461873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980" t="-108065" r="-817647" b="-21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0.06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3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0.157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0.31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5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0.6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3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1.2</a:t>
                          </a:r>
                          <a:r>
                            <a:rPr lang="sr-Latn-R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59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2.519</a:t>
                          </a:r>
                          <a:endPara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51959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6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np.logspace</a:t>
                          </a:r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(-2, 10, 13)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496386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w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6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kern="1200" dirty="0" err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np.linspace</a:t>
                          </a:r>
                          <a:r>
                            <a:rPr lang="en-US" sz="1800" b="0" kern="1200" dirty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(0, 1, 11)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2102772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D242538-32CE-A848-3644-BA1A672DF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896" y="627547"/>
            <a:ext cx="4173661" cy="3196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8DCB95-8611-3E74-E3E0-122D59FA3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718" y="3943558"/>
            <a:ext cx="3037800" cy="265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2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8DF0-7084-7BF8-351B-40A6ECDD0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996696"/>
            <a:ext cx="5641848" cy="4855464"/>
          </a:xfrm>
        </p:spPr>
        <p:txBody>
          <a:bodyPr/>
          <a:lstStyle/>
          <a:p>
            <a:r>
              <a:rPr lang="en-US" dirty="0" err="1"/>
              <a:t>Konvolucione</a:t>
            </a:r>
            <a:r>
              <a:rPr lang="en-US" dirty="0"/>
              <a:t> </a:t>
            </a:r>
            <a:r>
              <a:rPr lang="en-US" dirty="0" err="1"/>
              <a:t>neuronske</a:t>
            </a:r>
            <a:br>
              <a:rPr lang="en-US" dirty="0"/>
            </a:br>
            <a:r>
              <a:rPr lang="en-US" dirty="0" err="1"/>
              <a:t>mre</a:t>
            </a:r>
            <a:r>
              <a:rPr lang="sr-Latn-RS" dirty="0"/>
              <a:t>že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938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4F4A17-E5E3-3BBB-506A-67A82AC5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sr-Latn-RS" dirty="0"/>
              <a:t>FlowerCNN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1D155-25E1-8B68-CB50-937B45BF4B2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1911096"/>
            <a:ext cx="6399058" cy="3959352"/>
          </a:xfrm>
        </p:spPr>
        <p:txBody>
          <a:bodyPr anchor="t">
            <a:normAutofit fontScale="92500" lnSpcReduction="20000"/>
          </a:bodyPr>
          <a:lstStyle/>
          <a:p>
            <a:r>
              <a:rPr lang="sr-Latn-RS" b="1" dirty="0"/>
              <a:t>Arhitektura mreže</a:t>
            </a:r>
          </a:p>
          <a:p>
            <a:pPr lvl="1"/>
            <a:r>
              <a:rPr lang="sr-Latn-RS" dirty="0"/>
              <a:t>4 konvoluciona bloka:</a:t>
            </a:r>
          </a:p>
          <a:p>
            <a:pPr marL="749808" lvl="2" indent="0">
              <a:buNone/>
            </a:pPr>
            <a:r>
              <a:rPr lang="en-US" dirty="0"/>
              <a:t>Conv2d → BatchNorm2d → </a:t>
            </a:r>
            <a:r>
              <a:rPr lang="en-US" dirty="0" err="1"/>
              <a:t>ReLU</a:t>
            </a:r>
            <a:r>
              <a:rPr lang="en-US" dirty="0"/>
              <a:t> → MaxPool2d</a:t>
            </a:r>
          </a:p>
          <a:p>
            <a:pPr lvl="1"/>
            <a:r>
              <a:rPr lang="sr-Latn-RS" dirty="0"/>
              <a:t>BatchNorm2d kao regularizacija</a:t>
            </a:r>
            <a:endParaRPr lang="en-US" dirty="0"/>
          </a:p>
          <a:p>
            <a:pPr lvl="1"/>
            <a:r>
              <a:rPr lang="sr-Latn-RS" dirty="0"/>
              <a:t>Potpuno povezani klasifikator sa Dropout slojem</a:t>
            </a:r>
          </a:p>
          <a:p>
            <a:r>
              <a:rPr lang="sr-Latn-RS" b="1" dirty="0"/>
              <a:t>Trening mreže</a:t>
            </a:r>
          </a:p>
          <a:p>
            <a:pPr lvl="1"/>
            <a:r>
              <a:rPr lang="sr-Latn-RS" dirty="0"/>
              <a:t>Pretraga hiperparametara </a:t>
            </a:r>
            <a:r>
              <a:rPr lang="sr-Latn-RS" dirty="0">
                <a:latin typeface="Cambria Math" panose="02040503050406030204" pitchFamily="18" charset="0"/>
                <a:ea typeface="Cambria Math" panose="02040503050406030204" pitchFamily="18" charset="0"/>
              </a:rPr>
              <a:t>learning rate (lr), weight decay (wd) </a:t>
            </a:r>
            <a:r>
              <a:rPr lang="sr-Latn-RS" dirty="0">
                <a:ea typeface="Cambria Math" panose="02040503050406030204" pitchFamily="18" charset="0"/>
              </a:rPr>
              <a:t>i</a:t>
            </a:r>
            <a:r>
              <a:rPr lang="sr-Latn-RS" dirty="0">
                <a:latin typeface="Cambria Math" panose="02040503050406030204" pitchFamily="18" charset="0"/>
                <a:ea typeface="Cambria Math" panose="02040503050406030204" pitchFamily="18" charset="0"/>
              </a:rPr>
              <a:t> dropout verovatnoće</a:t>
            </a:r>
          </a:p>
          <a:p>
            <a:pPr marL="384048" lvl="1" indent="0">
              <a:buNone/>
            </a:pP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=0.0001, wd=0.001, dropout=0.3,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val_acc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=0.751</a:t>
            </a:r>
          </a:p>
          <a:p>
            <a:pPr lvl="1"/>
            <a:r>
              <a:rPr lang="en-US" dirty="0" err="1"/>
              <a:t>Finalni</a:t>
            </a:r>
            <a:r>
              <a:rPr lang="en-US" dirty="0"/>
              <a:t> </a:t>
            </a:r>
            <a:r>
              <a:rPr lang="en-US" dirty="0" err="1"/>
              <a:t>trening</a:t>
            </a:r>
            <a:r>
              <a:rPr lang="en-US" dirty="0"/>
              <a:t> – </a:t>
            </a:r>
            <a:r>
              <a:rPr lang="en-US" dirty="0" err="1"/>
              <a:t>najbolja</a:t>
            </a:r>
            <a:r>
              <a:rPr lang="en-US" dirty="0"/>
              <a:t> </a:t>
            </a:r>
            <a:r>
              <a:rPr lang="en-US" dirty="0" err="1"/>
              <a:t>validaciona</a:t>
            </a:r>
            <a:r>
              <a:rPr lang="en-US" dirty="0"/>
              <a:t> ta</a:t>
            </a:r>
            <a:r>
              <a:rPr lang="sr-Latn-RS" dirty="0"/>
              <a:t>čnost </a:t>
            </a:r>
            <a:r>
              <a:rPr lang="sr-Latn-RS" dirty="0">
                <a:latin typeface="Cambria Math" panose="02040503050406030204" pitchFamily="18" charset="0"/>
                <a:ea typeface="Cambria Math" panose="02040503050406030204" pitchFamily="18" charset="0"/>
              </a:rPr>
              <a:t>0.79</a:t>
            </a:r>
          </a:p>
          <a:p>
            <a:pPr lvl="1"/>
            <a:r>
              <a:rPr lang="sr-Latn-RS" dirty="0">
                <a:ea typeface="Cambria Math" panose="02040503050406030204" pitchFamily="18" charset="0"/>
              </a:rPr>
              <a:t>Nema izraženog preprilagođavanja</a:t>
            </a:r>
          </a:p>
          <a:p>
            <a:pPr lvl="1"/>
            <a:r>
              <a:rPr lang="sr-Latn-RS" dirty="0">
                <a:ea typeface="Cambria Math" panose="02040503050406030204" pitchFamily="18" charset="0"/>
              </a:rPr>
              <a:t>Model dostigao granice za datu arhitekturu i skup podataka</a:t>
            </a:r>
          </a:p>
          <a:p>
            <a:pPr lvl="1"/>
            <a:r>
              <a:rPr lang="sr-Latn-RS" dirty="0"/>
              <a:t>Tačnost na test skupu: </a:t>
            </a:r>
            <a:r>
              <a:rPr lang="sr-Latn-RS" b="1" dirty="0"/>
              <a:t>0.78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DD2FEE-CF47-A509-59FE-1CBDAAF01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FF4A31-43D8-E2E3-786D-D52774D95F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49357" b="-4252"/>
          <a:stretch>
            <a:fillRect/>
          </a:stretch>
        </p:blipFill>
        <p:spPr>
          <a:xfrm>
            <a:off x="7298677" y="569423"/>
            <a:ext cx="4309792" cy="31275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797213-9724-C67C-D652-8FF7C04640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b="-52"/>
          <a:stretch>
            <a:fillRect/>
          </a:stretch>
        </p:blipFill>
        <p:spPr>
          <a:xfrm>
            <a:off x="7298677" y="3589261"/>
            <a:ext cx="4309792" cy="304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74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B0B8-96C2-8D11-EEC1-B343E746B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DDE898-4C0C-57FC-0015-81C034F6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anchor="t">
            <a:normAutofit/>
          </a:bodyPr>
          <a:lstStyle/>
          <a:p>
            <a:r>
              <a:rPr lang="sr-Latn-RS" dirty="0"/>
              <a:t>FlowerCNN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6532816-F664-8123-2773-125218E938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1" y="3577046"/>
            <a:ext cx="4431792" cy="2823754"/>
          </a:xfrm>
        </p:spPr>
        <p:txBody>
          <a:bodyPr>
            <a:normAutofit/>
          </a:bodyPr>
          <a:lstStyle/>
          <a:p>
            <a:r>
              <a:rPr lang="sr-Latn-RS" dirty="0"/>
              <a:t>Ujednačene performanse kroz većinu klasa</a:t>
            </a:r>
          </a:p>
          <a:p>
            <a:r>
              <a:rPr lang="sr-Latn-RS" dirty="0"/>
              <a:t>Model nije pristrasan prema zastupljenijim klasama</a:t>
            </a:r>
          </a:p>
          <a:p>
            <a:r>
              <a:rPr lang="sr-Latn-RS" dirty="0"/>
              <a:t>Izražena glavna dijagonala</a:t>
            </a:r>
          </a:p>
          <a:p>
            <a:r>
              <a:rPr lang="sr-Latn-RS" dirty="0"/>
              <a:t>Prosečna tačnost: 0.761</a:t>
            </a:r>
          </a:p>
          <a:p>
            <a:r>
              <a:rPr lang="sr-Latn-RS" dirty="0"/>
              <a:t>Značan broj klasa sa tačnošću iznad 0.9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2511ED5-4565-34C3-2FE3-16173E170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4318575"/>
            <a:ext cx="5907024" cy="2082225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DDB70D-8A91-CB9F-8260-280D8A07B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0B7EC9-1762-D87A-D95D-BC5D3A70C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331" y="575518"/>
            <a:ext cx="3506026" cy="3543419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07F4410-4F53-734C-B827-87DFF64CA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591161"/>
              </p:ext>
            </p:extLst>
          </p:nvPr>
        </p:nvGraphicFramePr>
        <p:xfrm>
          <a:off x="768091" y="1749876"/>
          <a:ext cx="5580456" cy="16459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5114">
                  <a:extLst>
                    <a:ext uri="{9D8B030D-6E8A-4147-A177-3AD203B41FA5}">
                      <a16:colId xmlns:a16="http://schemas.microsoft.com/office/drawing/2014/main" val="640056766"/>
                    </a:ext>
                  </a:extLst>
                </a:gridCol>
                <a:gridCol w="1395114">
                  <a:extLst>
                    <a:ext uri="{9D8B030D-6E8A-4147-A177-3AD203B41FA5}">
                      <a16:colId xmlns:a16="http://schemas.microsoft.com/office/drawing/2014/main" val="1544577580"/>
                    </a:ext>
                  </a:extLst>
                </a:gridCol>
                <a:gridCol w="1395114">
                  <a:extLst>
                    <a:ext uri="{9D8B030D-6E8A-4147-A177-3AD203B41FA5}">
                      <a16:colId xmlns:a16="http://schemas.microsoft.com/office/drawing/2014/main" val="2989294299"/>
                    </a:ext>
                  </a:extLst>
                </a:gridCol>
                <a:gridCol w="1395114">
                  <a:extLst>
                    <a:ext uri="{9D8B030D-6E8A-4147-A177-3AD203B41FA5}">
                      <a16:colId xmlns:a16="http://schemas.microsoft.com/office/drawing/2014/main" val="708997579"/>
                    </a:ext>
                  </a:extLst>
                </a:gridCol>
              </a:tblGrid>
              <a:tr h="331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Preciznost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Odziv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F1 mera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572993"/>
                  </a:ext>
                </a:extLst>
              </a:tr>
              <a:tr h="573224">
                <a:tc>
                  <a:txBody>
                    <a:bodyPr/>
                    <a:lstStyle/>
                    <a:p>
                      <a:r>
                        <a:rPr lang="sr-Latn-RS" dirty="0"/>
                        <a:t>Makro prosek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192427"/>
                  </a:ext>
                </a:extLst>
              </a:tr>
              <a:tr h="573224">
                <a:tc>
                  <a:txBody>
                    <a:bodyPr/>
                    <a:lstStyle/>
                    <a:p>
                      <a:r>
                        <a:rPr lang="sr-Latn-RS" dirty="0"/>
                        <a:t>Težinski prosek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0.7743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745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364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5D63A-8B4D-B7DC-F847-46F13007A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2402AA-B15B-ED0B-448D-D5ABC97E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anchor="t">
            <a:normAutofit/>
          </a:bodyPr>
          <a:lstStyle/>
          <a:p>
            <a:r>
              <a:rPr lang="sr-Latn-RS" dirty="0"/>
              <a:t>FlowerCNN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2EDED1-2580-EF4D-C760-3C5FB45C0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7" y="1744344"/>
            <a:ext cx="10275042" cy="4700831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995676-FB7A-44ED-AB49-683681779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61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7BA0-9FE5-AA28-D0BA-965E47D5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0A1702C-5128-526E-C46A-3DDF5216A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7299537" y="3589261"/>
            <a:ext cx="4308932" cy="30401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13C741-368D-398C-8BD1-9C4D94C368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7298676" y="516510"/>
            <a:ext cx="4309793" cy="304074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A0EA65E-611B-D55D-D356-D06A6A8B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sr-Latn-RS" dirty="0"/>
              <a:t>FlowerCNNV2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360C0-7974-BAAC-C5FA-7F66769A23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6" y="1911096"/>
            <a:ext cx="6399058" cy="3959352"/>
          </a:xfrm>
        </p:spPr>
        <p:txBody>
          <a:bodyPr anchor="t">
            <a:normAutofit lnSpcReduction="10000"/>
          </a:bodyPr>
          <a:lstStyle/>
          <a:p>
            <a:r>
              <a:rPr lang="sr-Latn-RS" b="1" dirty="0"/>
              <a:t>Arhitektura mreže</a:t>
            </a:r>
          </a:p>
          <a:p>
            <a:pPr lvl="1"/>
            <a:r>
              <a:rPr lang="sr-Latn-RS" dirty="0"/>
              <a:t>5 konvolucionih blokova: cilj naučiti kompleksije obarsce </a:t>
            </a:r>
          </a:p>
          <a:p>
            <a:pPr lvl="1"/>
            <a:r>
              <a:rPr lang="sr-Latn-RS" dirty="0"/>
              <a:t>AvgPool2d sa ciljem da se rastereti potpuno povezani sloj u klasifikatoru</a:t>
            </a:r>
          </a:p>
          <a:p>
            <a:r>
              <a:rPr lang="sr-Latn-RS" b="1" dirty="0"/>
              <a:t>Trening mreže</a:t>
            </a:r>
          </a:p>
          <a:p>
            <a:pPr lvl="1"/>
            <a:r>
              <a:rPr lang="sr-Latn-RS" dirty="0"/>
              <a:t>Znatno više vremena za trening – nije rađena pretraga hiperparametara (</a:t>
            </a:r>
            <a:r>
              <a:rPr lang="en-US" dirty="0" err="1"/>
              <a:t>najbolja</a:t>
            </a:r>
            <a:r>
              <a:rPr lang="en-US" dirty="0"/>
              <a:t> </a:t>
            </a:r>
            <a:r>
              <a:rPr lang="en-US" dirty="0" err="1"/>
              <a:t>validaciona</a:t>
            </a:r>
            <a:r>
              <a:rPr lang="en-US" dirty="0"/>
              <a:t> ta</a:t>
            </a:r>
            <a:r>
              <a:rPr lang="sr-Latn-RS" dirty="0"/>
              <a:t>čnost </a:t>
            </a:r>
            <a:r>
              <a:rPr lang="sr-Latn-RS" dirty="0">
                <a:latin typeface="Cambria Math" panose="02040503050406030204" pitchFamily="18" charset="0"/>
                <a:ea typeface="Cambria Math" panose="02040503050406030204" pitchFamily="18" charset="0"/>
              </a:rPr>
              <a:t>0.795</a:t>
            </a:r>
            <a:r>
              <a:rPr lang="sr-Latn-RS" dirty="0">
                <a:ea typeface="Cambria Math" panose="02040503050406030204" pitchFamily="18" charset="0"/>
              </a:rPr>
              <a:t>)</a:t>
            </a:r>
          </a:p>
          <a:p>
            <a:pPr lvl="1"/>
            <a:r>
              <a:rPr lang="sr-Latn-RS" dirty="0">
                <a:ea typeface="Cambria Math" panose="02040503050406030204" pitchFamily="18" charset="0"/>
              </a:rPr>
              <a:t>Pad/rast odgovarajućih kriva dosta linearniji (posmatrano na krupnom planu)</a:t>
            </a:r>
          </a:p>
          <a:p>
            <a:pPr lvl="1"/>
            <a:r>
              <a:rPr lang="sr-Latn-RS" dirty="0"/>
              <a:t>Tačnost na test skupu: </a:t>
            </a:r>
            <a:r>
              <a:rPr lang="sr-Latn-RS" b="1" dirty="0"/>
              <a:t>0.81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16AB8E-4E24-279D-B7F5-57B2AE5DC2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269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01419-CEF6-F20E-BCD3-041E7A118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4F7448-B52F-48C8-32D8-116B0DF8A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4316968"/>
            <a:ext cx="5907024" cy="2083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2739EB-B7BF-9EA6-1C1E-A538322A0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601" y="575518"/>
            <a:ext cx="3506026" cy="354341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F64DE01-DC6D-F524-BE2F-449D8DF7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anchor="t">
            <a:normAutofit/>
          </a:bodyPr>
          <a:lstStyle/>
          <a:p>
            <a:r>
              <a:rPr lang="sr-Latn-RS" dirty="0"/>
              <a:t>FlowerCNNV2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7A7DCB23-9BFA-83BE-D2CE-CA4DE485A4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1" y="3577046"/>
            <a:ext cx="4431792" cy="2823754"/>
          </a:xfrm>
        </p:spPr>
        <p:txBody>
          <a:bodyPr>
            <a:normAutofit fontScale="92500"/>
          </a:bodyPr>
          <a:lstStyle/>
          <a:p>
            <a:r>
              <a:rPr lang="sr-Latn-RS" dirty="0"/>
              <a:t>Poboljšanje F1 mere i tačnosti – model generalno bolje razlikuje klase </a:t>
            </a:r>
          </a:p>
          <a:p>
            <a:r>
              <a:rPr lang="sr-Latn-RS" dirty="0"/>
              <a:t>Model nije pristrasan prema zastupljenijim klasama</a:t>
            </a:r>
          </a:p>
          <a:p>
            <a:r>
              <a:rPr lang="sr-Latn-RS" dirty="0"/>
              <a:t>Izražena glavna dijagonala</a:t>
            </a:r>
          </a:p>
          <a:p>
            <a:r>
              <a:rPr lang="sr-Latn-RS" dirty="0"/>
              <a:t>Prosečna tačnost: 0.779</a:t>
            </a:r>
          </a:p>
          <a:p>
            <a:r>
              <a:rPr lang="sr-Latn-RS" dirty="0"/>
              <a:t>I ovde postoji mali broj vrlo teških klasa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33B215-9DFB-7475-C9C9-940F80CFE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3D0BBA2-7381-C420-0835-C1878B616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902531"/>
              </p:ext>
            </p:extLst>
          </p:nvPr>
        </p:nvGraphicFramePr>
        <p:xfrm>
          <a:off x="768091" y="1749876"/>
          <a:ext cx="5580456" cy="16459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95114">
                  <a:extLst>
                    <a:ext uri="{9D8B030D-6E8A-4147-A177-3AD203B41FA5}">
                      <a16:colId xmlns:a16="http://schemas.microsoft.com/office/drawing/2014/main" val="640056766"/>
                    </a:ext>
                  </a:extLst>
                </a:gridCol>
                <a:gridCol w="1395114">
                  <a:extLst>
                    <a:ext uri="{9D8B030D-6E8A-4147-A177-3AD203B41FA5}">
                      <a16:colId xmlns:a16="http://schemas.microsoft.com/office/drawing/2014/main" val="1544577580"/>
                    </a:ext>
                  </a:extLst>
                </a:gridCol>
                <a:gridCol w="1395114">
                  <a:extLst>
                    <a:ext uri="{9D8B030D-6E8A-4147-A177-3AD203B41FA5}">
                      <a16:colId xmlns:a16="http://schemas.microsoft.com/office/drawing/2014/main" val="2989294299"/>
                    </a:ext>
                  </a:extLst>
                </a:gridCol>
                <a:gridCol w="1395114">
                  <a:extLst>
                    <a:ext uri="{9D8B030D-6E8A-4147-A177-3AD203B41FA5}">
                      <a16:colId xmlns:a16="http://schemas.microsoft.com/office/drawing/2014/main" val="708997579"/>
                    </a:ext>
                  </a:extLst>
                </a:gridCol>
              </a:tblGrid>
              <a:tr h="331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Preciznost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Odziv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F1 mera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572993"/>
                  </a:ext>
                </a:extLst>
              </a:tr>
              <a:tr h="573224">
                <a:tc>
                  <a:txBody>
                    <a:bodyPr/>
                    <a:lstStyle/>
                    <a:p>
                      <a:r>
                        <a:rPr lang="sr-Latn-RS" dirty="0"/>
                        <a:t>Makro prosek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</a:t>
                      </a:r>
                      <a:r>
                        <a:rPr lang="sr-Latn-R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192427"/>
                  </a:ext>
                </a:extLst>
              </a:tr>
              <a:tr h="573224">
                <a:tc>
                  <a:txBody>
                    <a:bodyPr/>
                    <a:lstStyle/>
                    <a:p>
                      <a:r>
                        <a:rPr lang="sr-Latn-RS" dirty="0"/>
                        <a:t>Težinski prosek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0.8104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745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3518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38531-0DB9-08F6-78C7-35ABDD361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76C011-DA73-13DB-0701-2FAF812B3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43729"/>
            <a:ext cx="10275042" cy="470144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DB775A4-3C23-6D87-7DAC-82D3BCD20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 anchor="t">
            <a:normAutofit/>
          </a:bodyPr>
          <a:lstStyle/>
          <a:p>
            <a:r>
              <a:rPr lang="sr-Latn-RS" dirty="0"/>
              <a:t>FlowerCNNV2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20C056-8DB9-FB52-EA15-41971A5CD8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B51A1E-902D-48AF-9020-955120F399B6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81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E4F035-A84E-C603-942E-4778256E0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sr-Latn-RS" dirty="0"/>
              <a:t>Analiza grešaka FlowerCNNV2 mreže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A187C4-2E9C-38FD-AFCE-B470CF80D6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85E38-9CF3-8BBD-86B6-4B4669C63A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sr-Latn-RS" dirty="0"/>
              <a:t>Greške su uglavnom nesigurne i rasrpšene</a:t>
            </a:r>
          </a:p>
          <a:p>
            <a:r>
              <a:rPr lang="sr-Latn-RS" dirty="0"/>
              <a:t>Nema izraženog mešanja dve klase</a:t>
            </a:r>
          </a:p>
          <a:p>
            <a:r>
              <a:rPr lang="sr-Latn-RS" dirty="0"/>
              <a:t>Broj trening slika ima slab uticaj na tačnost</a:t>
            </a: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4D5DDD2-C720-300A-4828-92E98F1FCB1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513388" y="2679304"/>
            <a:ext cx="5907087" cy="29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01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F4738-430F-9240-A836-99355122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1FB032-39DB-077C-7028-67CEDC861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sr-Latn-RS" dirty="0"/>
              <a:t>Analiza grešaka FlowerCNNV2 mreže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04D61B-CD33-AF5A-C76C-BF6373C281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E20D0-0014-5364-8B6C-8BFACC2AD4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1911096"/>
            <a:ext cx="9690354" cy="914400"/>
          </a:xfrm>
        </p:spPr>
        <p:txBody>
          <a:bodyPr>
            <a:normAutofit/>
          </a:bodyPr>
          <a:lstStyle/>
          <a:p>
            <a:r>
              <a:rPr lang="sr-Latn-RS" dirty="0"/>
              <a:t>Grad-CAM ukazuje da model greši kada pažnju usmeri na celu scenu umesto na krakteristične detalje cveta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758BF-E511-5FDF-754D-6E84C923D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011" y="2825496"/>
            <a:ext cx="7435977" cy="371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10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7005-510B-D858-4A28-D36CAE8F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ResNet18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E1FE-5689-C6D9-7F6B-BBCA1E3E3A8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68095" y="1987676"/>
            <a:ext cx="5251705" cy="4603623"/>
          </a:xfrm>
        </p:spPr>
        <p:txBody>
          <a:bodyPr anchor="t"/>
          <a:lstStyle/>
          <a:p>
            <a:r>
              <a:rPr lang="sr-Latn-RS" dirty="0"/>
              <a:t>Eksperimenta radi, isprobana je pretrenirana mreža, prethodno trenirana na ImageNet skupu</a:t>
            </a:r>
          </a:p>
          <a:p>
            <a:r>
              <a:rPr lang="sr-Latn-RS" dirty="0"/>
              <a:t>Fino podešavanje poslednja dva rezidualna bloka i klasifikacioni sloj</a:t>
            </a:r>
          </a:p>
          <a:p>
            <a:r>
              <a:rPr lang="sr-Latn-RS" dirty="0"/>
              <a:t>Poslednje rezidualne blokove podešavamo jer prepoznaju složenije i specifičnije oblike</a:t>
            </a:r>
          </a:p>
          <a:p>
            <a:r>
              <a:rPr lang="sr-Latn-RS" dirty="0"/>
              <a:t>Dobija se tačnost od </a:t>
            </a:r>
            <a:r>
              <a:rPr lang="en-US" dirty="0"/>
              <a:t>97,4%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validaci</a:t>
            </a:r>
            <a:r>
              <a:rPr lang="sr-Latn-RS" dirty="0"/>
              <a:t>onom skupu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96,9% </a:t>
            </a:r>
            <a:r>
              <a:rPr lang="en-US" dirty="0" err="1"/>
              <a:t>na</a:t>
            </a:r>
            <a:r>
              <a:rPr lang="en-US" dirty="0"/>
              <a:t> test </a:t>
            </a:r>
            <a:r>
              <a:rPr lang="en-US" dirty="0" err="1"/>
              <a:t>skupu</a:t>
            </a:r>
            <a:endParaRPr lang="en-US" dirty="0"/>
          </a:p>
          <a:p>
            <a:endParaRPr 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85C1A-2B04-2210-AB8F-75BDE8FAFE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9B51A1E-902D-48AF-9020-955120F399B6}" type="slidenum">
              <a:rPr lang="en-US" smtClean="0"/>
              <a:pPr algn="ctr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E55437-9F3E-7BC8-92D1-25F6B7B316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6934200" y="625276"/>
            <a:ext cx="4171950" cy="2943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01F583-5427-5C10-3FFA-D8842D5055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6934200" y="3685907"/>
            <a:ext cx="4171950" cy="294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14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C7F6E0-EEF5-DF18-032D-5675E3E4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sr-Latn-RS" dirty="0"/>
              <a:t>Kako različite vrste augmentacije utiču na kvalitet modela?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0A5048-2A9E-8039-0515-DD55D6645F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096" y="2130551"/>
            <a:ext cx="4910328" cy="4184523"/>
          </a:xfrm>
        </p:spPr>
        <p:txBody>
          <a:bodyPr>
            <a:normAutofit/>
          </a:bodyPr>
          <a:lstStyle/>
          <a:p>
            <a:r>
              <a:rPr lang="sr-Latn-RS" dirty="0"/>
              <a:t>Za svaku od konfiguracija vršeno je skaliranje slika na dimenzije 128x128px</a:t>
            </a:r>
          </a:p>
          <a:p>
            <a:r>
              <a:rPr lang="sr-Latn-RS" dirty="0"/>
              <a:t>Takođe je primenjena i normalizacija na osnovu ImageNet statistika, na nivou kanala:</a:t>
            </a:r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Kombinovanje različitih vrsta transformacija: HorizontalFlip, Rotation, ColorJitter, ResizedCrop...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9707541-D848-E77A-BAAB-6218D2950A5F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6848475" y="1905128"/>
            <a:ext cx="4154620" cy="449567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545BCC-4C94-3446-15B2-D4D6FF9B0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478A97-8A2C-44D7-BE31-C19B78729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632453"/>
              </p:ext>
            </p:extLst>
          </p:nvPr>
        </p:nvGraphicFramePr>
        <p:xfrm>
          <a:off x="1155890" y="4352925"/>
          <a:ext cx="4134740" cy="7315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33685">
                  <a:extLst>
                    <a:ext uri="{9D8B030D-6E8A-4147-A177-3AD203B41FA5}">
                      <a16:colId xmlns:a16="http://schemas.microsoft.com/office/drawing/2014/main" val="2992578778"/>
                    </a:ext>
                  </a:extLst>
                </a:gridCol>
                <a:gridCol w="1033685">
                  <a:extLst>
                    <a:ext uri="{9D8B030D-6E8A-4147-A177-3AD203B41FA5}">
                      <a16:colId xmlns:a16="http://schemas.microsoft.com/office/drawing/2014/main" val="3899517593"/>
                    </a:ext>
                  </a:extLst>
                </a:gridCol>
                <a:gridCol w="1033685">
                  <a:extLst>
                    <a:ext uri="{9D8B030D-6E8A-4147-A177-3AD203B41FA5}">
                      <a16:colId xmlns:a16="http://schemas.microsoft.com/office/drawing/2014/main" val="3306499436"/>
                    </a:ext>
                  </a:extLst>
                </a:gridCol>
                <a:gridCol w="1033685">
                  <a:extLst>
                    <a:ext uri="{9D8B030D-6E8A-4147-A177-3AD203B41FA5}">
                      <a16:colId xmlns:a16="http://schemas.microsoft.com/office/drawing/2014/main" val="129035237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sr-Latn-RS" dirty="0"/>
                        <a:t>mean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682289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sr-Latn-RS" b="1" dirty="0"/>
                        <a:t>std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754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735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3449D-CBFB-2604-FA5B-7110A711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1F85CC-E4AC-6CAE-66BD-759C20B5A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sr-Latn-RS" dirty="0"/>
              <a:t>Kako različite vrste augmentacije utiču na kvalitet modela?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6A08AB-A7F9-9356-1FB1-72D5DAB93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F3792C-4176-9F1A-1454-52CF2C8F4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43" y="2294780"/>
            <a:ext cx="10859513" cy="334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79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A8F2E-9FB9-B768-564D-B6E17DDDC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225ADC-BF97-B51C-D1EA-99D3C8ADC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sr-Latn-RS" dirty="0"/>
              <a:t>Kako različite vrste augmentacije utiču na kvalitet modela?</a:t>
            </a:r>
            <a:r>
              <a:rPr lang="en-US" dirty="0"/>
              <a:t> – bez </a:t>
            </a:r>
            <a:r>
              <a:rPr lang="en-US" dirty="0" err="1"/>
              <a:t>rotacija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B74874-FE29-9318-67D6-ACB2E7C45A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F98792-2C64-9574-5F24-74755C953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76" y="2228077"/>
            <a:ext cx="11125200" cy="342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627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67BF9-94AA-EDDF-37AA-83C55A70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735D23-D056-F0EA-CF94-AEBF36DF2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10652760" cy="914400"/>
          </a:xfrm>
        </p:spPr>
        <p:txBody>
          <a:bodyPr/>
          <a:lstStyle/>
          <a:p>
            <a:r>
              <a:rPr lang="sr-Latn-RS" dirty="0"/>
              <a:t>Kako različite vrste augmentacije utiču na kvalitet modela?</a:t>
            </a:r>
            <a:r>
              <a:rPr lang="en-US" dirty="0"/>
              <a:t> – </a:t>
            </a:r>
            <a:r>
              <a:rPr lang="sr-Latn-RS" dirty="0"/>
              <a:t>manji uglovi rotacije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19F0CB-CB64-5C43-9C64-7D2E44A92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34800" y="6400800"/>
            <a:ext cx="457200" cy="457200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135F7-32AD-B404-5E38-3CE02E6D2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2286000"/>
            <a:ext cx="11064239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32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3531FC-30B1-5F17-6B06-9AE6CF55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996696"/>
            <a:ext cx="8668512" cy="2432304"/>
          </a:xfrm>
        </p:spPr>
        <p:txBody>
          <a:bodyPr/>
          <a:lstStyle/>
          <a:p>
            <a:r>
              <a:rPr lang="sr-Latn-RS" dirty="0"/>
              <a:t>Hvala na pažnji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B3CC7-49C3-34B4-FBDB-34C97767B9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9048" y="3429000"/>
            <a:ext cx="5340096" cy="2660904"/>
          </a:xfrm>
        </p:spPr>
        <p:txBody>
          <a:bodyPr/>
          <a:lstStyle/>
          <a:p>
            <a:r>
              <a:rPr lang="sr-Latn-RS" dirty="0"/>
              <a:t>Branko Cvetković 1022/2023</a:t>
            </a:r>
          </a:p>
          <a:p>
            <a:r>
              <a:rPr lang="sr-Latn-RS" dirty="0"/>
              <a:t>Anja Cvetković 1009/2024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68917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453729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00682B"/>
      </a:accent1>
      <a:accent2>
        <a:srgbClr val="EFEAE7"/>
      </a:accent2>
      <a:accent3>
        <a:srgbClr val="CD1711"/>
      </a:accent3>
      <a:accent4>
        <a:srgbClr val="651B51"/>
      </a:accent4>
      <a:accent5>
        <a:srgbClr val="2C3A2E"/>
      </a:accent5>
      <a:accent6>
        <a:srgbClr val="B6A650"/>
      </a:accent6>
      <a:hlink>
        <a:srgbClr val="029B2D"/>
      </a:hlink>
      <a:folHlink>
        <a:srgbClr val="029B2D"/>
      </a:folHlink>
    </a:clrScheme>
    <a:fontScheme name="Custom 36">
      <a:majorFont>
        <a:latin typeface="Batang"/>
        <a:ea typeface=""/>
        <a:cs typeface=""/>
      </a:majorFont>
      <a:minorFont>
        <a:latin typeface="Batan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3175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78453729_win32_SD_v5" id="{5665AA9C-4EFF-4FCC-8086-4050069C15ED}" vid="{F66CC29E-A3F9-4341-8B35-47A4E87375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111B19-7283-4751-B1F8-E7CC95678A87}">
  <ds:schemaRefs>
    <ds:schemaRef ds:uri="http://schemas.microsoft.com/office/infopath/2007/PartnerControls"/>
    <ds:schemaRef ds:uri="http://purl.org/dc/terms/"/>
    <ds:schemaRef ds:uri="16c05727-aa75-4e4a-9b5f-8a80a1165891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71af3243-3dd4-4a8d-8c0d-dd76da1f02a5"/>
    <ds:schemaRef ds:uri="230e9df3-be65-4c73-a93b-d1236ebd677e"/>
    <ds:schemaRef ds:uri="http://purl.org/dc/elements/1.1/"/>
    <ds:schemaRef ds:uri="http://schemas.microsoft.com/sharepoint/v3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7B38E9C-53F4-45B7-BB77-8539BB7040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B7AA3F-15AC-4F4D-8050-3ECF172613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{BCD3C8E3-ADD2-4F84-ADD1-796EBA6C8D3C}e028a05d-4f48-421c-89c7-a61c2a7392b9-TF1af4b5f9-c96c-4fa7-b535-c2be4df5a610ac3ce97f_win32</Template>
  <TotalTime>329</TotalTime>
  <Words>833</Words>
  <Application>Microsoft Office PowerPoint</Application>
  <PresentationFormat>Widescreen</PresentationFormat>
  <Paragraphs>228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Batang</vt:lpstr>
      <vt:lpstr>Arial</vt:lpstr>
      <vt:lpstr>Calibri</vt:lpstr>
      <vt:lpstr>Cambria Math</vt:lpstr>
      <vt:lpstr>Custom</vt:lpstr>
      <vt:lpstr>Klasifikacija cveća</vt:lpstr>
      <vt:lpstr>O skupu podataka </vt:lpstr>
      <vt:lpstr>Priprema podataka</vt:lpstr>
      <vt:lpstr>Kernelizovani KNN</vt:lpstr>
      <vt:lpstr>Kernelizovani KNN</vt:lpstr>
      <vt:lpstr>Kernelizovani KNN</vt:lpstr>
      <vt:lpstr>Kernelizovani SVM</vt:lpstr>
      <vt:lpstr>Konvolucione neuronske mreže</vt:lpstr>
      <vt:lpstr>FlowerCNN</vt:lpstr>
      <vt:lpstr>FlowerCNN</vt:lpstr>
      <vt:lpstr>FlowerCNN</vt:lpstr>
      <vt:lpstr>FlowerCNNV2</vt:lpstr>
      <vt:lpstr>FlowerCNNV2</vt:lpstr>
      <vt:lpstr>FlowerCNNV2</vt:lpstr>
      <vt:lpstr>Analiza grešaka FlowerCNNV2 mreže</vt:lpstr>
      <vt:lpstr>Analiza grešaka FlowerCNNV2 mreže</vt:lpstr>
      <vt:lpstr>ResNet18</vt:lpstr>
      <vt:lpstr>Kako različite vrste augmentacije utiču na kvalitet modela?</vt:lpstr>
      <vt:lpstr>Kako različite vrste augmentacije utiču na kvalitet modela?</vt:lpstr>
      <vt:lpstr>Kako različite vrste augmentacije utiču na kvalitet modela? – bez rotacija</vt:lpstr>
      <vt:lpstr>Kako različite vrste augmentacije utiču na kvalitet modela? – manji uglovi rotacije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Cvetković, Anja</dc:creator>
  <cp:lastModifiedBy>Cvetković, Anja</cp:lastModifiedBy>
  <cp:revision>3</cp:revision>
  <dcterms:created xsi:type="dcterms:W3CDTF">2026-09-12T15:54:42Z</dcterms:created>
  <dcterms:modified xsi:type="dcterms:W3CDTF">2026-09-12T21:23:47Z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Office Theme:7</vt:lpwstr>
  </property>
  <property fmtid="{D5CDD505-2E9C-101B-9397-08002B2CF9AE}" pid="5" name="ClassificationContentMarkingFooterText">
    <vt:lpwstr>Classified as Microsoft Confidential</vt:lpwstr>
  </property>
</Properties>
</file>